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737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D4E94-6079-DC22-2864-6564C4C82F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975AA-EF15-25AC-383E-C3D1904BF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AC477-EA7E-960D-4E4C-01D3BDBBA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8498A-8A0D-47EF-BDF8-70296E8BE8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66A01-FDC8-27FF-908D-189A76EA9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ECC97-3AA6-2254-A07D-6CED5CBC0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4F4CE-32DB-4024-91CF-36C0FBB08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834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3C5ED-B588-C190-13B6-6EF7722A3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FB4BE-CBF4-9300-967D-87A2D35BA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C6D90-AEAC-7F14-0896-214B1E89F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8498A-8A0D-47EF-BDF8-70296E8BE8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FDC24-C392-23F6-6263-A9B12E1B2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B5A2E-FD0A-113B-C6EE-B308B1F11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4F4CE-32DB-4024-91CF-36C0FBB08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437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0EC5F-2EF6-F43F-5100-761961E59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9371D-06D2-F109-FB87-44FFA71082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06D2E-D333-91D7-68C9-3A8C6BD4B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8498A-8A0D-47EF-BDF8-70296E8BE8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07E58-03FD-95A9-68E7-CB332E60C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CEC4E-490D-6BDB-7F34-2EE2B7728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4F4CE-32DB-4024-91CF-36C0FBB08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9785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1577E-BA94-A9FC-5410-6A03BCFCF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7CACF-45AD-9CE0-CA26-3C6C555752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1A875-3389-3680-E78C-F0D1A3F5F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A8FF3B-3079-C302-1FA0-AB86FFA0A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8498A-8A0D-47EF-BDF8-70296E8BE8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9D22A-8970-C558-90EF-695EBC08C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65DDB-BF34-BA25-AB85-7887EAAEB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4F4CE-32DB-4024-91CF-36C0FBB08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035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3D34D-BB74-8B2A-4630-3251A31A0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F6E175-DC4D-46A4-18D1-E33BC939A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D90CBB-8B41-3173-FF03-47649C3DD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67C470-33AD-E546-B119-9F693B59D7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650FD3-FDC8-6041-85F5-CDD2BDB2C9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5ADE58-FD69-342C-8702-4B45DF1E7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8498A-8A0D-47EF-BDF8-70296E8BE8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0237E4-CC01-5197-2812-82D5186FE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ECE88C-945D-42B1-F02C-DEE5D4370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4F4CE-32DB-4024-91CF-36C0FBB08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3020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F0F41-E6AD-2C54-3C0E-8DF7D84A9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5AD4F9-67E8-7672-0C8E-DB56C63A4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8498A-8A0D-47EF-BDF8-70296E8BE8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D4332E-1F57-1D17-8175-DDCBFF606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66636-E4D3-47B6-6F49-9B594B4EF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4F4CE-32DB-4024-91CF-36C0FBB08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0441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430EA0-202E-7E7C-1592-FF4FF54E8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8498A-8A0D-47EF-BDF8-70296E8BE8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6BE42E-9883-81C6-2740-8B2AAA6D7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3C957A-9E86-0521-0C28-C4655CBD0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4F4CE-32DB-4024-91CF-36C0FBB08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255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22171-29BE-BDEF-0F4A-9C47D7FEE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504DD-D8E6-6B11-877D-C455321D9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30B9C4-CE47-67C7-1BA3-1CF9337E95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D1C332-A8E1-8538-2642-B12B113E2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8498A-8A0D-47EF-BDF8-70296E8BE8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12CD3B-6641-1F41-24B7-77F96EB9A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0E54FD-6A33-11C7-CCDF-8EC248BA2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4F4CE-32DB-4024-91CF-36C0FBB08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46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8E9F8-EAFB-0ABB-F7D3-A36D7C13B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0FBE68-CD05-2CA1-B941-5E32670355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624C8F-BA80-A7D9-111B-6C805E33A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9B42B-9431-9F0E-F7B7-49EE61D0A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8498A-8A0D-47EF-BDF8-70296E8BE8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4E5BB-30B7-4FB9-667F-436329E6F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E6C18-B330-60BC-1F95-38459F1B3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4F4CE-32DB-4024-91CF-36C0FBB08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984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A5666-2954-A874-D661-17567C912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3315FB-6BDA-E16B-E98A-441E8757DC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53AAC-7027-AD90-3662-F9A8B86F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8498A-8A0D-47EF-BDF8-70296E8BE8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8D48B-2F95-D48A-5FF2-4DE2601CF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A6FAC-EDB3-B871-CDF4-3CAB8C8A2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4F4CE-32DB-4024-91CF-36C0FBB08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8496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0AAA48-55E8-DC54-5E85-C66E520FAC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60DA85-F489-B936-768E-F0C9A1483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63C95-17C2-E6BB-769C-A77F95CE7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8498A-8A0D-47EF-BDF8-70296E8BE8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62503-847F-150A-8AD2-DE88AC2B8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02636-BA73-FA88-BB0D-CADC93FC0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14F4CE-32DB-4024-91CF-36C0FBB08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388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DDEA24-49F8-79E4-CB62-72B203A7E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C96E4-4BAE-9AEE-626A-3A21B6F30E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2866C-6896-93ED-5E77-7A0B116677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B8498A-8A0D-47EF-BDF8-70296E8BE8F1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50DF69-4DA8-069D-1394-3885E2EC5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D1D251-0581-24F0-86F2-331D8544CA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4F4CE-32DB-4024-91CF-36C0FBB086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3475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484E2A-A26F-844A-00D4-90F85B762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9816" y="23391"/>
            <a:ext cx="2122184" cy="14547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48B52AE-97FB-6CD1-74A4-526D9A08C8C6}"/>
              </a:ext>
            </a:extLst>
          </p:cNvPr>
          <p:cNvSpPr txBox="1"/>
          <p:nvPr/>
        </p:nvSpPr>
        <p:spPr>
          <a:xfrm>
            <a:off x="2886456" y="4842063"/>
            <a:ext cx="6131052" cy="177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12290" marR="1823720" algn="ctr">
              <a:buNone/>
            </a:pPr>
            <a:r>
              <a:rPr lang="en-US" sz="2400" dirty="0">
                <a:effectLst/>
                <a:latin typeface="Sitka Banner Semibold" pitchFamily="2" charset="0"/>
                <a:ea typeface="Times New Roman" panose="02020603050405020304" pitchFamily="18" charset="0"/>
              </a:rPr>
              <a:t>Under</a:t>
            </a:r>
            <a:r>
              <a:rPr lang="en-US" sz="2400" spc="-10" dirty="0">
                <a:effectLst/>
                <a:latin typeface="Sitka Banner Semibold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Sitka Banner Semibold" pitchFamily="2" charset="0"/>
                <a:ea typeface="Times New Roman" panose="02020603050405020304" pitchFamily="18" charset="0"/>
              </a:rPr>
              <a:t>the</a:t>
            </a:r>
            <a:r>
              <a:rPr lang="en-US" sz="2400" spc="-5" dirty="0">
                <a:effectLst/>
                <a:latin typeface="Sitka Banner Semibold" pitchFamily="2" charset="0"/>
                <a:ea typeface="Times New Roman" panose="02020603050405020304" pitchFamily="18" charset="0"/>
              </a:rPr>
              <a:t> </a:t>
            </a:r>
            <a:r>
              <a:rPr lang="en-US" sz="2400" dirty="0">
                <a:effectLst/>
                <a:latin typeface="Sitka Banner Semibold" pitchFamily="2" charset="0"/>
                <a:ea typeface="Times New Roman" panose="02020603050405020304" pitchFamily="18" charset="0"/>
              </a:rPr>
              <a:t>guidance</a:t>
            </a:r>
            <a:r>
              <a:rPr lang="en-US" sz="2400" spc="-30" dirty="0">
                <a:effectLst/>
                <a:latin typeface="Sitka Banner Semibold" pitchFamily="2" charset="0"/>
                <a:ea typeface="Times New Roman" panose="02020603050405020304" pitchFamily="18" charset="0"/>
              </a:rPr>
              <a:t> </a:t>
            </a:r>
            <a:r>
              <a:rPr lang="en-US" sz="2400" spc="-25" dirty="0">
                <a:effectLst/>
                <a:latin typeface="Sitka Banner Semibold" pitchFamily="2" charset="0"/>
                <a:ea typeface="Times New Roman" panose="02020603050405020304" pitchFamily="18" charset="0"/>
              </a:rPr>
              <a:t>of</a:t>
            </a:r>
          </a:p>
          <a:p>
            <a:pPr marR="16510" algn="ctr">
              <a:spcBef>
                <a:spcPts val="805"/>
              </a:spcBef>
              <a:buNone/>
            </a:pPr>
            <a:r>
              <a:rPr lang="en-US" sz="2400" dirty="0">
                <a:effectLst/>
                <a:latin typeface="Sitka Banner Semibold" pitchFamily="2" charset="0"/>
                <a:ea typeface="Times New Roman" panose="02020603050405020304" pitchFamily="18" charset="0"/>
              </a:rPr>
              <a:t>Dr. </a:t>
            </a:r>
            <a:r>
              <a:rPr lang="en-US" sz="2400" dirty="0">
                <a:latin typeface="Sitka Banner Semibold" pitchFamily="2" charset="0"/>
                <a:ea typeface="Times New Roman" panose="02020603050405020304" pitchFamily="18" charset="0"/>
              </a:rPr>
              <a:t>Rani</a:t>
            </a:r>
            <a:endParaRPr lang="en-IN" sz="1800" dirty="0">
              <a:effectLst/>
              <a:latin typeface="Sitka Banner Semibold" pitchFamily="2" charset="0"/>
              <a:ea typeface="Times New Roman" panose="02020603050405020304" pitchFamily="18" charset="0"/>
            </a:endParaRPr>
          </a:p>
          <a:p>
            <a:pPr marR="16510" algn="ctr">
              <a:spcBef>
                <a:spcPts val="805"/>
              </a:spcBef>
              <a:buNone/>
            </a:pPr>
            <a:r>
              <a:rPr lang="en-US" sz="2400" spc="-10" dirty="0">
                <a:effectLst/>
                <a:latin typeface="Sitka Banner Semibold" pitchFamily="2" charset="0"/>
                <a:ea typeface="Times New Roman" panose="02020603050405020304" pitchFamily="18" charset="0"/>
              </a:rPr>
              <a:t>Professor,</a:t>
            </a:r>
            <a:r>
              <a:rPr lang="en-US" sz="2400" spc="50" dirty="0">
                <a:effectLst/>
                <a:latin typeface="Sitka Banner Semibold" pitchFamily="2" charset="0"/>
                <a:ea typeface="Times New Roman" panose="02020603050405020304" pitchFamily="18" charset="0"/>
              </a:rPr>
              <a:t> </a:t>
            </a:r>
            <a:r>
              <a:rPr lang="en-US" sz="2400" spc="-10" dirty="0">
                <a:effectLst/>
                <a:latin typeface="Sitka Banner Semibold" pitchFamily="2" charset="0"/>
                <a:ea typeface="Times New Roman" panose="02020603050405020304" pitchFamily="18" charset="0"/>
              </a:rPr>
              <a:t>Department of CSE</a:t>
            </a:r>
            <a:endParaRPr lang="en-IN" sz="1800" dirty="0">
              <a:effectLst/>
              <a:latin typeface="Sitka Banner Semibold" pitchFamily="2" charset="0"/>
              <a:ea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350F5-6E8D-DDC5-C8F7-1CA9F38C7861}"/>
              </a:ext>
            </a:extLst>
          </p:cNvPr>
          <p:cNvSpPr txBox="1"/>
          <p:nvPr/>
        </p:nvSpPr>
        <p:spPr>
          <a:xfrm>
            <a:off x="186076" y="1478148"/>
            <a:ext cx="120609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Comic Sans MS" panose="030F0702030302020204" pitchFamily="66" charset="0"/>
              </a:rPr>
              <a:t>NETWORK INTRUSION DETECTION USING RANDOM FOREST AND GRADIENT-BOOSTED TREES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B0FAA5-AB17-EBD7-1570-AA680A37A4A1}"/>
              </a:ext>
            </a:extLst>
          </p:cNvPr>
          <p:cNvSpPr txBox="1"/>
          <p:nvPr/>
        </p:nvSpPr>
        <p:spPr>
          <a:xfrm>
            <a:off x="252984" y="2658043"/>
            <a:ext cx="5843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“Ensemble Learning for Intrusion Detection”</a:t>
            </a:r>
            <a:r>
              <a:rPr lang="en-IN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BC3D31-4553-B18F-F9D6-180C83AF00E2}"/>
              </a:ext>
            </a:extLst>
          </p:cNvPr>
          <p:cNvSpPr txBox="1"/>
          <p:nvPr/>
        </p:nvSpPr>
        <p:spPr>
          <a:xfrm>
            <a:off x="373528" y="3246584"/>
            <a:ext cx="42702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ahnschrift" panose="020B0502040204020203" pitchFamily="34" charset="0"/>
              </a:rPr>
              <a:t>2520030211 – Y . Bhaarathi</a:t>
            </a:r>
          </a:p>
          <a:p>
            <a:r>
              <a:rPr lang="en-US" dirty="0">
                <a:latin typeface="Bahnschrift" panose="020B0502040204020203" pitchFamily="34" charset="0"/>
              </a:rPr>
              <a:t>2520030189 – A . Akshaya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4B13FB-4D91-5880-66F8-80B7326CDF7B}"/>
              </a:ext>
            </a:extLst>
          </p:cNvPr>
          <p:cNvSpPr txBox="1"/>
          <p:nvPr/>
        </p:nvSpPr>
        <p:spPr>
          <a:xfrm>
            <a:off x="8045859" y="3035797"/>
            <a:ext cx="3209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SECTION – 09</a:t>
            </a:r>
          </a:p>
          <a:p>
            <a:r>
              <a:rPr lang="en-US" dirty="0"/>
              <a:t>Batch - 10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03742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5BEBFE6-C502-16CD-13CB-B83059B00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0631" y="11816"/>
            <a:ext cx="2541369" cy="17421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5841F00-233E-D62F-0CE9-F639BF90BF76}"/>
              </a:ext>
            </a:extLst>
          </p:cNvPr>
          <p:cNvSpPr txBox="1"/>
          <p:nvPr/>
        </p:nvSpPr>
        <p:spPr>
          <a:xfrm>
            <a:off x="1148766" y="1157675"/>
            <a:ext cx="7873314" cy="5126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000" b="1" dirty="0"/>
              <a:t>Introduction</a:t>
            </a:r>
            <a:endParaRPr lang="en-IN" sz="20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Network attacks are increasing in number and complexity.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Intrusion Detection Systems (IDS) monitor network traffic to identify malicious activities.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Traditional systems mainly depend on predefined rules or signatures.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Machine Learning can learn attack patterns from network traffic. </a:t>
            </a:r>
          </a:p>
          <a:p>
            <a:pPr>
              <a:lnSpc>
                <a:spcPct val="150000"/>
              </a:lnSpc>
              <a:buNone/>
            </a:pPr>
            <a:r>
              <a:rPr lang="en-IN" sz="2000" b="1" dirty="0"/>
              <a:t>Problem Statement</a:t>
            </a:r>
            <a:endParaRPr lang="en-IN" sz="2000" dirty="0"/>
          </a:p>
          <a:p>
            <a:pPr>
              <a:lnSpc>
                <a:spcPct val="150000"/>
              </a:lnSpc>
              <a:buNone/>
            </a:pPr>
            <a:r>
              <a:rPr lang="en-IN" sz="2000" dirty="0"/>
              <a:t>To develop a machine-learning-based system that can detect and classify malicious network traffic accurately using Random Forest and Gradient-Boosted Trees.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E97039-4093-65AA-EEEC-5CC5EA7EAEE0}"/>
              </a:ext>
            </a:extLst>
          </p:cNvPr>
          <p:cNvSpPr txBox="1"/>
          <p:nvPr/>
        </p:nvSpPr>
        <p:spPr>
          <a:xfrm>
            <a:off x="405716" y="344261"/>
            <a:ext cx="49987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Arial Rounded MT Bold" panose="020F0704030504030204" pitchFamily="34" charset="0"/>
              </a:rPr>
              <a:t>Introduction &amp; Problem</a:t>
            </a:r>
          </a:p>
          <a:p>
            <a:endParaRPr lang="en-IN" sz="3200" dirty="0"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3622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6245F0-F24B-DC97-9567-08B264853F06}"/>
              </a:ext>
            </a:extLst>
          </p:cNvPr>
          <p:cNvSpPr txBox="1"/>
          <p:nvPr/>
        </p:nvSpPr>
        <p:spPr>
          <a:xfrm>
            <a:off x="1285568" y="1430307"/>
            <a:ext cx="7056120" cy="3833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/>
              <a:t>Objectives</a:t>
            </a:r>
            <a:endParaRPr lang="en-IN" sz="20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Collect a suitable network intrusion dataset.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Preprocess and clean the network traffic data.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Analyse important network traffic features.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Train </a:t>
            </a:r>
            <a:r>
              <a:rPr lang="en-IN" sz="2000" b="1" dirty="0"/>
              <a:t>Random Forest</a:t>
            </a:r>
            <a:r>
              <a:rPr lang="en-IN" sz="2000" dirty="0"/>
              <a:t> and </a:t>
            </a:r>
            <a:r>
              <a:rPr lang="en-IN" sz="2000" b="1" dirty="0"/>
              <a:t>Gradient-Boosted Trees</a:t>
            </a:r>
            <a:r>
              <a:rPr lang="en-IN" sz="2000" dirty="0"/>
              <a:t> models.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Detect normal and malicious network traffic.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Compare both models using performance metrics.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/>
              <a:t>Identify the better-performing model for intrusion detection.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A4FBDE-0FCD-E452-17DA-3FE21C58972A}"/>
              </a:ext>
            </a:extLst>
          </p:cNvPr>
          <p:cNvSpPr txBox="1"/>
          <p:nvPr/>
        </p:nvSpPr>
        <p:spPr>
          <a:xfrm>
            <a:off x="502920" y="53161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>
                <a:latin typeface="Arial Rounded MT Bold" panose="020F0704030504030204" pitchFamily="34" charset="0"/>
              </a:rPr>
              <a:t>Objectives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29E2473-D6C4-42F0-CC26-566088664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6219" y="11816"/>
            <a:ext cx="2005781" cy="137496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69AA6E-869F-9091-10DA-683E491E0518}"/>
              </a:ext>
            </a:extLst>
          </p:cNvPr>
          <p:cNvSpPr txBox="1"/>
          <p:nvPr/>
        </p:nvSpPr>
        <p:spPr>
          <a:xfrm>
            <a:off x="502920" y="5577840"/>
            <a:ext cx="10789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Eras Bold ITC" panose="020B0907030504020204" pitchFamily="34" charset="0"/>
              </a:rPr>
              <a:t>We are using Dataset Named “</a:t>
            </a:r>
            <a:r>
              <a:rPr lang="en-US" dirty="0">
                <a:solidFill>
                  <a:srgbClr val="FF0000"/>
                </a:solidFill>
                <a:latin typeface="Eras Bold ITC" panose="020B0907030504020204" pitchFamily="34" charset="0"/>
              </a:rPr>
              <a:t>CIC-IDS2017</a:t>
            </a:r>
            <a:r>
              <a:rPr lang="en-US" dirty="0">
                <a:latin typeface="Eras Bold ITC" panose="020B0907030504020204" pitchFamily="34" charset="0"/>
              </a:rPr>
              <a:t>” created by Canadian Institute for </a:t>
            </a:r>
            <a:r>
              <a:rPr lang="en-US" dirty="0" err="1">
                <a:latin typeface="Eras Bold ITC" panose="020B0907030504020204" pitchFamily="34" charset="0"/>
              </a:rPr>
              <a:t>CyberSecurity</a:t>
            </a:r>
            <a:endParaRPr lang="en-IN" dirty="0">
              <a:latin typeface="Eras Bold ITC" panose="020B0907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200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426E5B-76E6-0821-2FE3-0B94EE295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2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0143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075ED9A-200F-4D13-153A-6A6255982912}"/>
              </a:ext>
            </a:extLst>
          </p:cNvPr>
          <p:cNvSpPr txBox="1"/>
          <p:nvPr/>
        </p:nvSpPr>
        <p:spPr>
          <a:xfrm>
            <a:off x="518651" y="663714"/>
            <a:ext cx="11486535" cy="6049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/>
              <a:t>Expected Results</a:t>
            </a:r>
          </a:p>
          <a:p>
            <a:pPr lvl="0">
              <a:lnSpc>
                <a:spcPct val="150000"/>
              </a:lnSpc>
            </a:pPr>
            <a:r>
              <a:rPr lang="en-IN" sz="2000" b="1" dirty="0"/>
              <a:t>Accurate Traffic Classification</a:t>
            </a:r>
            <a:r>
              <a:rPr lang="en-IN" sz="2000" dirty="0"/>
              <a:t> – Classify network traffic as Normal or Malicious. </a:t>
            </a:r>
          </a:p>
          <a:p>
            <a:pPr lvl="0">
              <a:lnSpc>
                <a:spcPct val="150000"/>
              </a:lnSpc>
            </a:pPr>
            <a:r>
              <a:rPr lang="en-IN" sz="2000" b="1" dirty="0"/>
              <a:t>Attack Detection</a:t>
            </a:r>
            <a:r>
              <a:rPr lang="en-IN" sz="2000" dirty="0"/>
              <a:t> – Detect different types of cyberattacks available in the dataset. </a:t>
            </a:r>
          </a:p>
          <a:p>
            <a:pPr lvl="0">
              <a:lnSpc>
                <a:spcPct val="150000"/>
              </a:lnSpc>
            </a:pPr>
            <a:r>
              <a:rPr lang="en-IN" sz="2000" b="1" dirty="0"/>
              <a:t>Effective Model Training</a:t>
            </a:r>
            <a:r>
              <a:rPr lang="en-IN" sz="2000" dirty="0"/>
              <a:t> – Train both Random Forest and Gradient-Boosted Trees using the prepared network data. </a:t>
            </a:r>
          </a:p>
          <a:p>
            <a:pPr lvl="0">
              <a:lnSpc>
                <a:spcPct val="150000"/>
              </a:lnSpc>
            </a:pPr>
            <a:r>
              <a:rPr lang="en-IN" sz="2000" b="1" dirty="0"/>
              <a:t>Performance Comparison</a:t>
            </a:r>
            <a:r>
              <a:rPr lang="en-IN" sz="2000" dirty="0"/>
              <a:t> – Compare both models using Accuracy, Precision, Recall, and F1-score. </a:t>
            </a:r>
          </a:p>
          <a:p>
            <a:pPr lvl="0">
              <a:lnSpc>
                <a:spcPct val="150000"/>
              </a:lnSpc>
            </a:pPr>
            <a:r>
              <a:rPr lang="en-IN" sz="2000" b="1" dirty="0"/>
              <a:t>Best Model Selection</a:t>
            </a:r>
            <a:r>
              <a:rPr lang="en-IN" sz="2000" dirty="0"/>
              <a:t> – Identify the model that provides better and more reliable intrusion detection. </a:t>
            </a:r>
          </a:p>
          <a:p>
            <a:pPr lvl="0">
              <a:lnSpc>
                <a:spcPct val="150000"/>
              </a:lnSpc>
            </a:pPr>
            <a:r>
              <a:rPr lang="en-IN" sz="2000" b="1" dirty="0"/>
              <a:t>Improved Network Security</a:t>
            </a:r>
            <a:r>
              <a:rPr lang="en-IN" sz="2000" dirty="0"/>
              <a:t> – Provide an automated solution that helps detect potential threats </a:t>
            </a:r>
            <a:r>
              <a:rPr lang="en-IN" sz="2000" b="1" dirty="0"/>
              <a:t>Conclusion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    In this project, we will develop a network intrusion detection system that uses machine learning to identify cyberattacks. We will collect and clean network traffic data, train Random Forest and Gradient-Boosted Trees and use them to classify network traffic as normal or malicious. Finally, we will compare both models to determine which performs better in detecting network attacks.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7CFA86-992F-489F-A187-99B044CBE5C6}"/>
              </a:ext>
            </a:extLst>
          </p:cNvPr>
          <p:cNvSpPr txBox="1"/>
          <p:nvPr/>
        </p:nvSpPr>
        <p:spPr>
          <a:xfrm>
            <a:off x="165919" y="3620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Arial Rounded MT Bold" panose="020F0704030504030204" pitchFamily="34" charset="0"/>
              </a:rPr>
              <a:t>Expected Results &amp; Conclusion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593FFA-E293-D2D3-F3ED-698ABD814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2697" y="0"/>
            <a:ext cx="1632154" cy="1118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495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343760-0C2E-018C-6D0E-E1BA5BC69735}"/>
              </a:ext>
            </a:extLst>
          </p:cNvPr>
          <p:cNvSpPr txBox="1"/>
          <p:nvPr/>
        </p:nvSpPr>
        <p:spPr>
          <a:xfrm>
            <a:off x="4267201" y="2513648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15274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342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Aptos</vt:lpstr>
      <vt:lpstr>Aptos Display</vt:lpstr>
      <vt:lpstr>Arial</vt:lpstr>
      <vt:lpstr>Arial Rounded MT Bold</vt:lpstr>
      <vt:lpstr>Bahnschrift</vt:lpstr>
      <vt:lpstr>Calibri Light</vt:lpstr>
      <vt:lpstr>Comic Sans MS</vt:lpstr>
      <vt:lpstr>Eras Bold ITC</vt:lpstr>
      <vt:lpstr>Sitka Banner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Yasam Bhaarathi</dc:creator>
  <cp:lastModifiedBy>ALLURU AKSHAYA</cp:lastModifiedBy>
  <cp:revision>6</cp:revision>
  <dcterms:created xsi:type="dcterms:W3CDTF">2026-08-31T03:38:00Z</dcterms:created>
  <dcterms:modified xsi:type="dcterms:W3CDTF">2026-08-31T09:53:15Z</dcterms:modified>
</cp:coreProperties>
</file>