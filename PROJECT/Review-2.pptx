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68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737" autoAdjust="0"/>
  </p:normalViewPr>
  <p:slideViewPr>
    <p:cSldViewPr snapToGrid="0">
      <p:cViewPr>
        <p:scale>
          <a:sx n="75" d="100"/>
          <a:sy n="75" d="100"/>
        </p:scale>
        <p:origin x="989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2053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1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6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79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70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68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947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54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8435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83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3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81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3730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01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785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7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2011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6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5485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47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169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86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664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8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000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A2A60BF-D00B-4368-8A9B-FE09F1441B6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B620D8DF-4449-48BB-8F5F-8D008650FD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1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A13E-6232-6282-629E-EBD79E44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74" y="2620451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NETWORK INTRUSION DETECTION USING RANDOM FOREST AND GRADIENT-BOOSTED TREES</a:t>
            </a:r>
            <a:br>
              <a:rPr lang="en-IN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BCFB8-1D51-DC16-7BE7-BD15066FA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4" y="5008051"/>
            <a:ext cx="3991897" cy="132392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2520030211 – Y . Bhaarathi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2520030189 – A . Akshaya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30071-D750-F96D-5C31-85CB18C25DCC}"/>
              </a:ext>
            </a:extLst>
          </p:cNvPr>
          <p:cNvSpPr txBox="1"/>
          <p:nvPr/>
        </p:nvSpPr>
        <p:spPr>
          <a:xfrm>
            <a:off x="5751870" y="5377866"/>
            <a:ext cx="2733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SECTION – 09</a:t>
            </a:r>
          </a:p>
          <a:p>
            <a:r>
              <a:rPr lang="en-US" sz="2400" dirty="0"/>
              <a:t>Batch - 10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564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842D92-2111-95BB-A1C1-864549AC0D0A}"/>
              </a:ext>
            </a:extLst>
          </p:cNvPr>
          <p:cNvSpPr txBox="1"/>
          <p:nvPr/>
        </p:nvSpPr>
        <p:spPr>
          <a:xfrm>
            <a:off x="4188541" y="27445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1.Problem Definition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92FE-4E78-C696-3DE9-2F912C39E270}"/>
              </a:ext>
            </a:extLst>
          </p:cNvPr>
          <p:cNvSpPr txBox="1"/>
          <p:nvPr/>
        </p:nvSpPr>
        <p:spPr>
          <a:xfrm>
            <a:off x="388374" y="786580"/>
            <a:ext cx="1141525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Problem Definition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Network intrusion occurs when unauthorized or malicious activities are detected in a computer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Cyberattacks such as DDoS, DoS, Brute Force, Botnet, </a:t>
            </a:r>
            <a:r>
              <a:rPr lang="en-IN" dirty="0" err="1"/>
              <a:t>PortScan</a:t>
            </a:r>
            <a:r>
              <a:rPr lang="en-IN" dirty="0"/>
              <a:t>, and Web Attacks can affect network security and system availability.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is difficult for organizations to continuously monitor large amounts of network traffic and identify attacks manually.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Machine learning can </a:t>
            </a:r>
            <a:r>
              <a:rPr lang="en-IN" dirty="0" err="1"/>
              <a:t>analyze</a:t>
            </a:r>
            <a:r>
              <a:rPr lang="en-IN" dirty="0"/>
              <a:t> network traffic data and identify patterns associated with normal and malicious activities.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project develops a Network Intrusion Detection system using Random Forest and Gradient-Boosted Trees.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Why is this problem important?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Helps organizations identify malicious network traffic.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Supports early detection of cyberattacks.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2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8A066E-4A19-E6F2-C74B-2D9D4C8BAB5C}"/>
              </a:ext>
            </a:extLst>
          </p:cNvPr>
          <p:cNvSpPr txBox="1"/>
          <p:nvPr/>
        </p:nvSpPr>
        <p:spPr>
          <a:xfrm>
            <a:off x="496528" y="266546"/>
            <a:ext cx="10589342" cy="695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Helps protect systems and sensitive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Reduces the effort required for manual network monitoring. </a:t>
            </a:r>
            <a:endParaRPr lang="en-IN" sz="2000" b="1" dirty="0"/>
          </a:p>
          <a:p>
            <a:pPr>
              <a:lnSpc>
                <a:spcPct val="150000"/>
              </a:lnSpc>
            </a:pPr>
            <a:r>
              <a:rPr lang="en-IN" sz="2000" b="1" dirty="0"/>
              <a:t>Who will use the solution?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Network administrators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Cybersecurity teams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Security analysts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Network monitoring teams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Expected Output</a:t>
            </a:r>
          </a:p>
          <a:p>
            <a:r>
              <a:rPr lang="en-IN" sz="2000" b="1" dirty="0"/>
              <a:t>Input:</a:t>
            </a:r>
            <a:br>
              <a:rPr lang="en-IN" sz="2000" dirty="0"/>
            </a:br>
            <a:r>
              <a:rPr lang="en-IN" sz="2000" dirty="0"/>
              <a:t>Network traffic information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Machine Learning Models:</a:t>
            </a:r>
            <a:br>
              <a:rPr lang="en-IN" sz="2000" dirty="0"/>
            </a:br>
            <a:r>
              <a:rPr lang="en-IN" sz="2000" dirty="0"/>
              <a:t>Random Forest + Gradient-Boosted Trees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Output:</a:t>
            </a:r>
            <a:endParaRPr lang="en-IN" sz="2000" dirty="0"/>
          </a:p>
          <a:p>
            <a:pPr lvl="0"/>
            <a:r>
              <a:rPr lang="en-IN" sz="2000" dirty="0"/>
              <a:t>Normal / Benign or Malicious / Attack prediction </a:t>
            </a:r>
          </a:p>
          <a:p>
            <a:pPr lvl="0"/>
            <a:r>
              <a:rPr lang="en-IN" sz="2000" dirty="0"/>
              <a:t>Detection of suspicious network traffic </a:t>
            </a:r>
          </a:p>
          <a:p>
            <a:pPr lvl="0"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8928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6424D-A7C0-7167-DEAD-17DCC8066947}"/>
              </a:ext>
            </a:extLst>
          </p:cNvPr>
          <p:cNvSpPr txBox="1"/>
          <p:nvPr/>
        </p:nvSpPr>
        <p:spPr>
          <a:xfrm>
            <a:off x="3913238" y="12056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2. Dataset Collection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C494F-834F-3E21-9F1E-C63B28B8FAC9}"/>
              </a:ext>
            </a:extLst>
          </p:cNvPr>
          <p:cNvSpPr txBox="1"/>
          <p:nvPr/>
        </p:nvSpPr>
        <p:spPr>
          <a:xfrm>
            <a:off x="639097" y="868069"/>
            <a:ext cx="10913806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Dataset Name:</a:t>
            </a:r>
            <a:r>
              <a:rPr lang="en-IN" dirty="0"/>
              <a:t> CIC-IDS2017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Dataset Source:</a:t>
            </a:r>
            <a:r>
              <a:rPr lang="en-IN" dirty="0"/>
              <a:t> Canadian Institute for Cybersecurity (CIC), University of New Brunswick. The dataset was downloaded from Kaggle.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Dataset Download:</a:t>
            </a:r>
            <a:r>
              <a:rPr lang="en-IN" dirty="0"/>
              <a:t> The dataset was downloaded as a ZIP file containing </a:t>
            </a:r>
            <a:r>
              <a:rPr lang="en-IN" b="1" dirty="0"/>
              <a:t>8 Parquet files</a:t>
            </a:r>
            <a:r>
              <a:rPr lang="en-IN" dirty="0"/>
              <a:t>, which were converted to CSV format for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Dataset Files:</a:t>
            </a:r>
            <a:r>
              <a:rPr lang="en-IN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Benign-Monday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Botnet-Friday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Bruteforce</a:t>
            </a:r>
            <a:r>
              <a:rPr lang="en-IN" dirty="0"/>
              <a:t>-Tuesday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DDoS-Friday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DoS-Wednesday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Infiltration-Thursday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Portscan</a:t>
            </a:r>
            <a:r>
              <a:rPr lang="en-IN" dirty="0"/>
              <a:t>-Friday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WebAttacks</a:t>
            </a:r>
            <a:r>
              <a:rPr lang="en-IN" dirty="0"/>
              <a:t>-Thursday</a:t>
            </a:r>
          </a:p>
        </p:txBody>
      </p:sp>
    </p:spTree>
    <p:extLst>
      <p:ext uri="{BB962C8B-B14F-4D97-AF65-F5344CB8AC3E}">
        <p14:creationId xmlns:p14="http://schemas.microsoft.com/office/powerpoint/2010/main" val="412840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C508A-E452-BE38-6429-D4EC65056091}"/>
              </a:ext>
            </a:extLst>
          </p:cNvPr>
          <p:cNvSpPr txBox="1"/>
          <p:nvPr/>
        </p:nvSpPr>
        <p:spPr>
          <a:xfrm>
            <a:off x="540773" y="157640"/>
            <a:ext cx="11454582" cy="628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Features/Columns:</a:t>
            </a:r>
            <a:r>
              <a:rPr lang="en-IN" dirty="0"/>
              <a:t> The dataset contains network traffic features such as flow duration, source/destination information, ports, protocol, packet statistics, byte statistics, timing information, and TCP/flow characteristics.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Column:</a:t>
            </a:r>
            <a:r>
              <a:rPr lang="en-IN" dirty="0"/>
              <a:t> </a:t>
            </a:r>
            <a:r>
              <a:rPr lang="en-IN" dirty="0">
                <a:latin typeface="+mn-lt"/>
              </a:rPr>
              <a:t>Label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Values:</a:t>
            </a:r>
            <a:r>
              <a:rPr lang="en-IN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BENIGN</a:t>
            </a:r>
            <a:r>
              <a:rPr lang="en-IN" dirty="0"/>
              <a:t> → Normal network traffic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Attack labels</a:t>
            </a:r>
            <a:r>
              <a:rPr lang="en-IN" dirty="0"/>
              <a:t> → Malicious network traffic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Number of Rows and Columns: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Benign-Monday-no-</a:t>
            </a:r>
            <a:r>
              <a:rPr lang="en-IN" dirty="0" err="1"/>
              <a:t>metadata.parquet</a:t>
            </a:r>
            <a:r>
              <a:rPr lang="en-IN" dirty="0"/>
              <a:t>                  Rows: 458831 | Columns: 78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Loading: Botnet-Friday-no-</a:t>
            </a:r>
            <a:r>
              <a:rPr lang="en-IN" dirty="0" err="1"/>
              <a:t>metadata.parquet</a:t>
            </a:r>
            <a:r>
              <a:rPr lang="en-IN" dirty="0"/>
              <a:t>                     Rows: 176038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</a:t>
            </a:r>
            <a:r>
              <a:rPr lang="en-IN" dirty="0" err="1"/>
              <a:t>Bruteforce</a:t>
            </a:r>
            <a:r>
              <a:rPr lang="en-IN" dirty="0"/>
              <a:t>-Tuesday-no-</a:t>
            </a:r>
            <a:r>
              <a:rPr lang="en-IN" dirty="0" err="1"/>
              <a:t>metadata.parquet</a:t>
            </a:r>
            <a:r>
              <a:rPr lang="en-IN" dirty="0"/>
              <a:t>          Rows: 389714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DDoS-Friday-no-</a:t>
            </a:r>
            <a:r>
              <a:rPr lang="en-IN" dirty="0" err="1"/>
              <a:t>metadata.parquet</a:t>
            </a:r>
            <a:r>
              <a:rPr lang="en-IN" dirty="0"/>
              <a:t>                        Rows: 221264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DoS-Wednesday-no-</a:t>
            </a:r>
            <a:r>
              <a:rPr lang="en-IN" dirty="0" err="1"/>
              <a:t>metadata.parquet</a:t>
            </a:r>
            <a:r>
              <a:rPr lang="en-IN" dirty="0"/>
              <a:t>                Rows: 584991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Infiltration-Thursday-no-</a:t>
            </a:r>
            <a:r>
              <a:rPr lang="en-IN" dirty="0" err="1"/>
              <a:t>metadata.parquet</a:t>
            </a:r>
            <a:r>
              <a:rPr lang="en-IN" dirty="0"/>
              <a:t>          Rows: 207630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</a:t>
            </a:r>
            <a:r>
              <a:rPr lang="en-IN" dirty="0" err="1"/>
              <a:t>Portscan</a:t>
            </a:r>
            <a:r>
              <a:rPr lang="en-IN" dirty="0"/>
              <a:t>-Friday-no-</a:t>
            </a:r>
            <a:r>
              <a:rPr lang="en-IN" dirty="0" err="1"/>
              <a:t>metadata.parquet</a:t>
            </a:r>
            <a:r>
              <a:rPr lang="en-IN" dirty="0"/>
              <a:t>                   Rows: 119522 | Columns: 78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Loading: </a:t>
            </a:r>
            <a:r>
              <a:rPr lang="en-IN" dirty="0" err="1"/>
              <a:t>WebAttacks</a:t>
            </a:r>
            <a:r>
              <a:rPr lang="en-IN" dirty="0"/>
              <a:t>-Thursday-no-</a:t>
            </a:r>
            <a:r>
              <a:rPr lang="en-IN" dirty="0" err="1"/>
              <a:t>metadata.parquet</a:t>
            </a:r>
            <a:r>
              <a:rPr lang="en-IN" dirty="0"/>
              <a:t>       Rows: 155820 | Columns: 78</a:t>
            </a:r>
          </a:p>
        </p:txBody>
      </p:sp>
    </p:spTree>
    <p:extLst>
      <p:ext uri="{BB962C8B-B14F-4D97-AF65-F5344CB8AC3E}">
        <p14:creationId xmlns:p14="http://schemas.microsoft.com/office/powerpoint/2010/main" val="234956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F88B60-BFD2-A72C-4071-3F5A22D1E320}"/>
              </a:ext>
            </a:extLst>
          </p:cNvPr>
          <p:cNvSpPr txBox="1"/>
          <p:nvPr/>
        </p:nvSpPr>
        <p:spPr>
          <a:xfrm>
            <a:off x="4159045" y="21889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3. Data Understanding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268D4-8DA3-D5C4-0ADE-924767F2466B}"/>
              </a:ext>
            </a:extLst>
          </p:cNvPr>
          <p:cNvSpPr txBox="1"/>
          <p:nvPr/>
        </p:nvSpPr>
        <p:spPr>
          <a:xfrm>
            <a:off x="113069" y="672094"/>
            <a:ext cx="11675808" cy="6146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From the CIC-IDS2017 dataset: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Records:</a:t>
            </a:r>
            <a:r>
              <a:rPr lang="en-IN" dirty="0"/>
              <a:t>2313810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Features:</a:t>
            </a:r>
            <a:r>
              <a:rPr lang="en-IN" dirty="0"/>
              <a:t> Network traffic features such as flow, packet, byte, protocol, port, timing, and TCP-related features.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Target:</a:t>
            </a:r>
            <a:r>
              <a:rPr lang="en-IN" dirty="0"/>
              <a:t> 1 (</a:t>
            </a:r>
            <a:r>
              <a:rPr lang="en-IN" dirty="0">
                <a:latin typeface="+mn-lt"/>
              </a:rPr>
              <a:t>Label</a:t>
            </a:r>
            <a:r>
              <a:rPr lang="en-IN" dirty="0"/>
              <a:t>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Column:</a:t>
            </a:r>
            <a:r>
              <a:rPr lang="en-IN" dirty="0"/>
              <a:t> </a:t>
            </a:r>
            <a:r>
              <a:rPr lang="en-IN" dirty="0">
                <a:latin typeface="+mn-lt"/>
              </a:rPr>
              <a:t>Label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Total Columns</a:t>
            </a:r>
            <a:r>
              <a:rPr lang="en-IN" dirty="0"/>
              <a:t>:78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Duplicate Records:</a:t>
            </a:r>
            <a:r>
              <a:rPr lang="en-IN" dirty="0"/>
              <a:t>82004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Missing Values:</a:t>
            </a:r>
            <a:r>
              <a:rPr lang="en-IN" dirty="0"/>
              <a:t> 0  No missing values found.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Statistical Summary</a:t>
            </a:r>
          </a:p>
          <a:p>
            <a:pPr>
              <a:buNone/>
            </a:pPr>
            <a:r>
              <a:rPr lang="en-IN" dirty="0"/>
              <a:t>For numerical features, statistical analysis can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Mean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Median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Standard deviation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Minimum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Maximum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Quartiles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60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3A1882-54D5-FF1F-7DDA-BBF41E159248}"/>
              </a:ext>
            </a:extLst>
          </p:cNvPr>
          <p:cNvSpPr txBox="1"/>
          <p:nvPr/>
        </p:nvSpPr>
        <p:spPr>
          <a:xfrm>
            <a:off x="245806" y="458328"/>
            <a:ext cx="11700387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Important Network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Flow Duration : Represents how long a network connection or flow continues.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Total </a:t>
            </a:r>
            <a:r>
              <a:rPr lang="en-IN" dirty="0" err="1"/>
              <a:t>Fwd</a:t>
            </a:r>
            <a:r>
              <a:rPr lang="en-IN" dirty="0"/>
              <a:t> Packets : Represents the number of packets sent in the forward direction.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Total Backward Packets : Represents the number of packets sent in the backward direction.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Flow Bytes/s : Represents the rate of bytes transferred during a network flow.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Flow Packets/s : Represents the rate of packets transferred during a network flow.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Unique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Label : The Label column contains different types of network traffic, such as: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BENIGN ,Botnet , </a:t>
            </a:r>
            <a:r>
              <a:rPr lang="en-IN" dirty="0" err="1"/>
              <a:t>Bruteforce</a:t>
            </a:r>
            <a:r>
              <a:rPr lang="en-IN" dirty="0"/>
              <a:t> , DDoS  , DoS , Infiltration , </a:t>
            </a:r>
            <a:r>
              <a:rPr lang="en-IN" dirty="0" err="1"/>
              <a:t>PortScan</a:t>
            </a:r>
            <a:r>
              <a:rPr lang="en-IN" dirty="0"/>
              <a:t>  , Web Attacks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Protocol : Different network protocols used in the traffic.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Source/Destination Information : Different source and destination IP addresses and ports.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Purpose : Checking unique values helps us understand the different categories and types of network traffic present in the dataset.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41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F34DF0-2B94-1CF1-7F5B-90E3B2E10FB9}"/>
              </a:ext>
            </a:extLst>
          </p:cNvPr>
          <p:cNvSpPr txBox="1"/>
          <p:nvPr/>
        </p:nvSpPr>
        <p:spPr>
          <a:xfrm>
            <a:off x="3972232" y="11073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4. Data Preprocessing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B51F4-702B-7C89-189E-3C06672B2981}"/>
              </a:ext>
            </a:extLst>
          </p:cNvPr>
          <p:cNvSpPr txBox="1"/>
          <p:nvPr/>
        </p:nvSpPr>
        <p:spPr>
          <a:xfrm>
            <a:off x="589935" y="872491"/>
            <a:ext cx="11012129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1. Remove irrelevant attributes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•Remove:</a:t>
            </a:r>
          </a:p>
          <a:p>
            <a:pPr>
              <a:lnSpc>
                <a:spcPct val="150000"/>
              </a:lnSpc>
            </a:pPr>
            <a:r>
              <a:rPr lang="en-IN" dirty="0"/>
              <a:t>•Flow ID , Source IP , Destination IP</a:t>
            </a:r>
          </a:p>
          <a:p>
            <a:pPr>
              <a:lnSpc>
                <a:spcPct val="150000"/>
              </a:lnSpc>
            </a:pPr>
            <a:r>
              <a:rPr lang="en-IN" dirty="0"/>
              <a:t>•because they mainly identify individual network connections.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2. Handle missing/blank values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•Check for missing and blank values.</a:t>
            </a:r>
          </a:p>
          <a:p>
            <a:pPr>
              <a:lnSpc>
                <a:spcPct val="150000"/>
              </a:lnSpc>
            </a:pPr>
            <a:r>
              <a:rPr lang="en-IN" dirty="0"/>
              <a:t>•For example: Numerical features , Categorical features</a:t>
            </a:r>
          </a:p>
          <a:p>
            <a:pPr>
              <a:lnSpc>
                <a:spcPct val="150000"/>
              </a:lnSpc>
            </a:pPr>
            <a:r>
              <a:rPr lang="en-IN" dirty="0"/>
              <a:t>•Missing numerical values are handled using median.</a:t>
            </a:r>
          </a:p>
          <a:p>
            <a:pPr>
              <a:lnSpc>
                <a:spcPct val="150000"/>
              </a:lnSpc>
            </a:pPr>
            <a:r>
              <a:rPr lang="en-IN" dirty="0"/>
              <a:t>•Missing categorical values are handled using mode.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3. Handle infinite/incorrect values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•Check for:</a:t>
            </a:r>
          </a:p>
          <a:p>
            <a:pPr>
              <a:lnSpc>
                <a:spcPct val="150000"/>
              </a:lnSpc>
            </a:pPr>
            <a:r>
              <a:rPr lang="en-IN" dirty="0"/>
              <a:t>•Infinite values , Negative values , Invalid numerical values</a:t>
            </a:r>
          </a:p>
          <a:p>
            <a:pPr>
              <a:lnSpc>
                <a:spcPct val="150000"/>
              </a:lnSpc>
            </a:pPr>
            <a:r>
              <a:rPr lang="en-IN" dirty="0"/>
              <a:t>•Replace infinite values with missing values and handle them.</a:t>
            </a:r>
          </a:p>
        </p:txBody>
      </p:sp>
    </p:spTree>
    <p:extLst>
      <p:ext uri="{BB962C8B-B14F-4D97-AF65-F5344CB8AC3E}">
        <p14:creationId xmlns:p14="http://schemas.microsoft.com/office/powerpoint/2010/main" val="300919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648D4-FA83-13FC-9639-D0FCCDCAFC85}"/>
              </a:ext>
            </a:extLst>
          </p:cNvPr>
          <p:cNvSpPr txBox="1"/>
          <p:nvPr/>
        </p:nvSpPr>
        <p:spPr>
          <a:xfrm>
            <a:off x="471949" y="255639"/>
            <a:ext cx="11395585" cy="711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4. Handle categorical variables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•Categorical variables need to be converted into numerical form.</a:t>
            </a:r>
          </a:p>
          <a:p>
            <a:pPr>
              <a:lnSpc>
                <a:spcPct val="150000"/>
              </a:lnSpc>
            </a:pPr>
            <a:r>
              <a:rPr lang="en-IN" dirty="0"/>
              <a:t>•Therefore, encoding techniques such as </a:t>
            </a:r>
            <a:r>
              <a:rPr lang="en-IN" b="1" dirty="0"/>
              <a:t>One-Hot Encoding</a:t>
            </a:r>
            <a:r>
              <a:rPr lang="en-IN" dirty="0"/>
              <a:t> are used.</a:t>
            </a:r>
          </a:p>
          <a:p>
            <a:pPr>
              <a:lnSpc>
                <a:spcPct val="150000"/>
              </a:lnSpc>
            </a:pPr>
            <a:r>
              <a:rPr lang="en-IN" dirty="0"/>
              <a:t>•Example:</a:t>
            </a:r>
          </a:p>
          <a:p>
            <a:pPr>
              <a:lnSpc>
                <a:spcPct val="150000"/>
              </a:lnSpc>
            </a:pPr>
            <a:r>
              <a:rPr lang="en-IN" dirty="0"/>
              <a:t>•Protocol</a:t>
            </a:r>
          </a:p>
          <a:p>
            <a:pPr>
              <a:lnSpc>
                <a:spcPct val="150000"/>
              </a:lnSpc>
            </a:pPr>
            <a:r>
              <a:rPr lang="en-IN" dirty="0"/>
              <a:t>•TCP</a:t>
            </a:r>
          </a:p>
          <a:p>
            <a:pPr>
              <a:lnSpc>
                <a:spcPct val="150000"/>
              </a:lnSpc>
            </a:pPr>
            <a:r>
              <a:rPr lang="en-IN" b="1" dirty="0"/>
              <a:t>5. Handle numerical variables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•Numerical variables are identified and prepared for model training.</a:t>
            </a:r>
          </a:p>
          <a:p>
            <a:pPr>
              <a:lnSpc>
                <a:spcPct val="150000"/>
              </a:lnSpc>
            </a:pPr>
            <a:r>
              <a:rPr lang="en-IN" dirty="0"/>
              <a:t>•Examples:</a:t>
            </a:r>
          </a:p>
          <a:p>
            <a:pPr>
              <a:lnSpc>
                <a:spcPct val="150000"/>
              </a:lnSpc>
            </a:pPr>
            <a:r>
              <a:rPr lang="en-IN" dirty="0"/>
              <a:t>•Flow Duration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Outlier Detection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•IQR method can be used to identify unusual values in: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•Flow Duration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•Total </a:t>
            </a:r>
            <a:r>
              <a:rPr lang="en-IN" dirty="0" err="1"/>
              <a:t>Fwd</a:t>
            </a:r>
            <a:r>
              <a:rPr lang="en-IN" dirty="0"/>
              <a:t> Packets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•Flow Bytes/s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14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416006-1A5B-4084-5EC2-9B1E32D83069}"/>
              </a:ext>
            </a:extLst>
          </p:cNvPr>
          <p:cNvSpPr txBox="1"/>
          <p:nvPr/>
        </p:nvSpPr>
        <p:spPr>
          <a:xfrm>
            <a:off x="275302" y="197346"/>
            <a:ext cx="1047135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Incorrect Data</a:t>
            </a:r>
            <a:endParaRPr lang="en-IN" sz="1600" dirty="0"/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Check for: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•Missing values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•Infinite values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•Negative values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•Duplicate records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•Incorrect data types</a:t>
            </a:r>
          </a:p>
          <a:p>
            <a:pPr>
              <a:buNone/>
            </a:pPr>
            <a:r>
              <a:rPr lang="en-IN" sz="1600" b="1" dirty="0"/>
              <a:t>Final preprocessing flow</a:t>
            </a:r>
            <a:endParaRPr lang="en-IN" sz="1600" dirty="0"/>
          </a:p>
          <a:p>
            <a:pPr>
              <a:buNone/>
            </a:pPr>
            <a:r>
              <a:rPr lang="en-IN" sz="1600" dirty="0"/>
              <a:t>Raw Dataset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Remove irrelevant attributes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Handle missing/blank values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Handle incorrect values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Encode categorical variables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Detect outliers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/>
              <a:t>Create target variable</a:t>
            </a:r>
          </a:p>
          <a:p>
            <a:pPr>
              <a:buNone/>
            </a:pPr>
            <a:r>
              <a:rPr lang="en-IN" sz="1600" dirty="0"/>
              <a:t>↓</a:t>
            </a:r>
          </a:p>
          <a:p>
            <a:pPr>
              <a:buNone/>
            </a:pPr>
            <a:r>
              <a:rPr lang="en-IN" sz="1600" dirty="0" err="1"/>
              <a:t>Preprocessed</a:t>
            </a:r>
            <a:r>
              <a:rPr lang="en-IN" sz="1600" dirty="0"/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95067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CABC0C-F230-1869-B931-6CC21500F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18418"/>
              </p:ext>
            </p:extLst>
          </p:nvPr>
        </p:nvGraphicFramePr>
        <p:xfrm>
          <a:off x="904568" y="182880"/>
          <a:ext cx="10648335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4498">
                  <a:extLst>
                    <a:ext uri="{9D8B030D-6E8A-4147-A177-3AD203B41FA5}">
                      <a16:colId xmlns:a16="http://schemas.microsoft.com/office/drawing/2014/main" val="3069626013"/>
                    </a:ext>
                  </a:extLst>
                </a:gridCol>
                <a:gridCol w="5373837">
                  <a:extLst>
                    <a:ext uri="{9D8B030D-6E8A-4147-A177-3AD203B41FA5}">
                      <a16:colId xmlns:a16="http://schemas.microsoft.com/office/drawing/2014/main" val="3414643598"/>
                    </a:ext>
                  </a:extLst>
                </a:gridCol>
              </a:tblGrid>
              <a:tr h="238933">
                <a:tc>
                  <a:txBody>
                    <a:bodyPr/>
                    <a:lstStyle/>
                    <a:p>
                      <a:r>
                        <a:rPr lang="en-IN" dirty="0"/>
                        <a:t>Numerical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871284"/>
                  </a:ext>
                </a:extLst>
              </a:tr>
              <a:tr h="597331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Protocol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Flow Duration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Packets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Backward Packets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Packets Length Total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Packets Length Total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 Length Max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 Length Min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Flow Bytes/s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Flow Packets/s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PSH Flags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URG Flags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URG Flags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Down/Up Ratio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 Size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Packets/Bulk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Bulk Rate </a:t>
                      </a: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Subflow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Fwd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Packets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Max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Min Idle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Idle 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 Idle Max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603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168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C8C17-1022-4353-0814-8FFBD4DC7DF1}"/>
              </a:ext>
            </a:extLst>
          </p:cNvPr>
          <p:cNvSpPr txBox="1"/>
          <p:nvPr/>
        </p:nvSpPr>
        <p:spPr>
          <a:xfrm>
            <a:off x="2831691" y="385623"/>
            <a:ext cx="80132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5. Exploratory Data Analysis — EDA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F1B19-6321-E489-08AB-5513985A1EEF}"/>
              </a:ext>
            </a:extLst>
          </p:cNvPr>
          <p:cNvSpPr txBox="1"/>
          <p:nvPr/>
        </p:nvSpPr>
        <p:spPr>
          <a:xfrm>
            <a:off x="560439" y="1152520"/>
            <a:ext cx="1514167" cy="37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Histogram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721B6-7EE6-EAE3-206E-B60073AAC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9" y="1764446"/>
            <a:ext cx="5490485" cy="3043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2EBBFB-CEB1-85F2-2C72-0A487D4B9F82}"/>
              </a:ext>
            </a:extLst>
          </p:cNvPr>
          <p:cNvSpPr txBox="1"/>
          <p:nvPr/>
        </p:nvSpPr>
        <p:spPr>
          <a:xfrm>
            <a:off x="7905136" y="13382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Bar chart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32D4FD-2FC6-D83D-A0F1-9128D141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133" y="2006626"/>
            <a:ext cx="5490485" cy="361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9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72228-63D0-EDFA-C316-7BEBD7BF9D15}"/>
              </a:ext>
            </a:extLst>
          </p:cNvPr>
          <p:cNvSpPr txBox="1"/>
          <p:nvPr/>
        </p:nvSpPr>
        <p:spPr>
          <a:xfrm>
            <a:off x="924232" y="621579"/>
            <a:ext cx="161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Scatter plot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3F795-DA88-7C42-9D34-FF087B88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7" y="1287808"/>
            <a:ext cx="4733299" cy="2969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76188F-C610-5A35-08F1-9D888759EAC7}"/>
              </a:ext>
            </a:extLst>
          </p:cNvPr>
          <p:cNvSpPr txBox="1"/>
          <p:nvPr/>
        </p:nvSpPr>
        <p:spPr>
          <a:xfrm>
            <a:off x="8042788" y="6215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Box plot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C186B8-4529-C2E1-30BF-FF1D53D5A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897" y="1184462"/>
            <a:ext cx="5261726" cy="31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5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89C53-0BC5-34E8-AB55-70EC50B5DFDE}"/>
              </a:ext>
            </a:extLst>
          </p:cNvPr>
          <p:cNvSpPr txBox="1"/>
          <p:nvPr/>
        </p:nvSpPr>
        <p:spPr>
          <a:xfrm>
            <a:off x="570271" y="562584"/>
            <a:ext cx="3333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Correlation heatmap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60B15-C997-6F58-406C-363D4083DE6F}"/>
              </a:ext>
            </a:extLst>
          </p:cNvPr>
          <p:cNvSpPr txBox="1"/>
          <p:nvPr/>
        </p:nvSpPr>
        <p:spPr>
          <a:xfrm>
            <a:off x="7561006" y="5625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Count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6CD35-067A-6E5C-8083-53F6F5EB7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9" y="1112426"/>
            <a:ext cx="5805861" cy="4344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975968-EAFA-5589-3182-78951CD6C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059" y="1566881"/>
            <a:ext cx="6068589" cy="339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6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04289-683E-31F8-E66E-4FFC3AF43B29}"/>
              </a:ext>
            </a:extLst>
          </p:cNvPr>
          <p:cNvSpPr txBox="1"/>
          <p:nvPr/>
        </p:nvSpPr>
        <p:spPr>
          <a:xfrm>
            <a:off x="4680155" y="24798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Roboto" panose="02000000000000000000" pitchFamily="2" charset="0"/>
              </a:rPr>
              <a:t>Thank You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72178667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193</TotalTime>
  <Words>1013</Words>
  <Application>Microsoft Office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Bahnschrift</vt:lpstr>
      <vt:lpstr>Cascadia Code SemiBold</vt:lpstr>
      <vt:lpstr>JasmineUPC</vt:lpstr>
      <vt:lpstr>Raleway</vt:lpstr>
      <vt:lpstr>Roboto</vt:lpstr>
      <vt:lpstr>School Days</vt:lpstr>
      <vt:lpstr>NETWORK INTRUSION DETECTION USING RANDOM FOREST AND GRADIENT-BOOSTED TREES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ALLURU AKSHAYA</dc:creator>
  <cp:lastModifiedBy>ALLURU AKSHAYA</cp:lastModifiedBy>
  <cp:revision>6</cp:revision>
  <dcterms:created xsi:type="dcterms:W3CDTF">2026-09-19T07:13:52Z</dcterms:created>
  <dcterms:modified xsi:type="dcterms:W3CDTF">2026-10-05T04:17:10Z</dcterms:modified>
</cp:coreProperties>
</file>